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88164e8d354140" /><Relationship Type="http://schemas.openxmlformats.org/officeDocument/2006/relationships/extended-properties" Target="/docProps/app.xml" Id="Re9ac4c9af7a04b79" /><Relationship Type="http://schemas.openxmlformats.org/officeDocument/2006/relationships/officeDocument" Target="/ppt/presentation.xml" Id="Rbc24f87ed11846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b8e9734db14dc5"/>
  </p:sldMasterIdLst>
  <p:notesMasterIdLst>
    <p:notesMasterId xmlns:r="http://schemas.openxmlformats.org/officeDocument/2006/relationships" r:id="R3cadca7a5dea45b5"/>
  </p:notesMasterIdLst>
  <p:sldIdLst>
    <p:sldId xmlns:r="http://schemas.openxmlformats.org/officeDocument/2006/relationships" id="256" r:id="R0bed6e57358448ec"/>
    <p:sldId xmlns:r="http://schemas.openxmlformats.org/officeDocument/2006/relationships" id="257" r:id="R9a4ec631e89b4868"/>
    <p:sldId xmlns:r="http://schemas.openxmlformats.org/officeDocument/2006/relationships" id="258" r:id="Rddce3ddd31604308"/>
    <p:sldId xmlns:r="http://schemas.openxmlformats.org/officeDocument/2006/relationships" id="259" r:id="Rb322d803607b43c4"/>
    <p:sldId xmlns:r="http://schemas.openxmlformats.org/officeDocument/2006/relationships" id="260" r:id="Rcd46075bcec94943"/>
    <p:sldId xmlns:r="http://schemas.openxmlformats.org/officeDocument/2006/relationships" id="261" r:id="Rfde71865c45743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9ecfa0d1f14b67" /><Relationship Type="http://schemas.openxmlformats.org/officeDocument/2006/relationships/slideMaster" Target="/ppt/slideMasters/slideMaster1.xml" Id="Re9b8e9734db14dc5" /><Relationship Type="http://schemas.openxmlformats.org/officeDocument/2006/relationships/notesMaster" Target="/ppt/notesMasters/notesMaster1.xml" Id="R3cadca7a5dea45b5" /><Relationship Type="http://schemas.openxmlformats.org/officeDocument/2006/relationships/presProps" Target="/ppt/presProps.xml" Id="R16b190d26b50419c" /><Relationship Type="http://schemas.openxmlformats.org/officeDocument/2006/relationships/tableStyles" Target="/ppt/tableStyles.xml" Id="R968f71bd7c77484c" /><Relationship Type="http://schemas.openxmlformats.org/officeDocument/2006/relationships/slide" Target="/ppt/slides/slide1.xml" Id="R0bed6e57358448ec" /><Relationship Type="http://schemas.openxmlformats.org/officeDocument/2006/relationships/slide" Target="/ppt/slides/slide2.xml" Id="R9a4ec631e89b4868" /><Relationship Type="http://schemas.openxmlformats.org/officeDocument/2006/relationships/slide" Target="/ppt/slides/slide3.xml" Id="Rddce3ddd31604308" /><Relationship Type="http://schemas.openxmlformats.org/officeDocument/2006/relationships/slide" Target="/ppt/slides/slide4.xml" Id="Rb322d803607b43c4" /><Relationship Type="http://schemas.openxmlformats.org/officeDocument/2006/relationships/slide" Target="/ppt/slides/slide5.xml" Id="Rcd46075bcec94943" /><Relationship Type="http://schemas.openxmlformats.org/officeDocument/2006/relationships/slide" Target="/ppt/slides/slide6.xml" Id="Rfde71865c45743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d987c0ddbc4a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811e4952ee4ea8" /><Relationship Type="http://schemas.openxmlformats.org/officeDocument/2006/relationships/notesMaster" Target="/ppt/notesMasters/notesMaster1.xml" Id="R0d6bd6f270cc4c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8fbc27b5954a69" /><Relationship Type="http://schemas.openxmlformats.org/officeDocument/2006/relationships/notesMaster" Target="/ppt/notesMasters/notesMaster1.xml" Id="R52298b83b6334e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929f37df004adb" /><Relationship Type="http://schemas.openxmlformats.org/officeDocument/2006/relationships/notesMaster" Target="/ppt/notesMasters/notesMaster1.xml" Id="Rb651401bd0a54e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b69d8c71c94a0a" /><Relationship Type="http://schemas.openxmlformats.org/officeDocument/2006/relationships/notesMaster" Target="/ppt/notesMasters/notesMaster1.xml" Id="Rd7a5ff8c8b5d4e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dade35fba343ea" /><Relationship Type="http://schemas.openxmlformats.org/officeDocument/2006/relationships/notesMaster" Target="/ppt/notesMasters/notesMaster1.xml" Id="R560d700814d24c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b9931e4f344da5" /><Relationship Type="http://schemas.openxmlformats.org/officeDocument/2006/relationships/notesMaster" Target="/ppt/notesMasters/notesMaster1.xml" Id="Rd57cb410eee540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880d6f6754f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7ca6c995947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56638d14541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2599819354d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56780b501346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9263b76ec49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EF39A6-8DD6-4635-BC23-F7064D6EC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CBCFED-8D41-467B-BAC4-F1EAFFA86C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556912-B783-46E3-894D-F5CD1CD9B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D2E2E4-ED29-4F86-9D1B-901DA404D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B7D81D-7BE4-4C03-B135-20C2295FB8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1CDBD0-F334-4750-8787-A51BB75AF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AB4200-BBCC-4322-B8FA-02030A1568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7EA264-2AED-420C-84C1-457AFD6837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CFDB19-FA8A-4B70-B47F-550D59220C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DA138E-A310-46C2-95BC-9BAC894BB0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87034c3a30416b" /><Relationship Type="http://schemas.openxmlformats.org/officeDocument/2006/relationships/slideLayout" Target="/ppt/slideLayouts/slideLayout1.xml" Id="R695e624f78284577" /><Relationship Type="http://schemas.openxmlformats.org/officeDocument/2006/relationships/slideLayout" Target="/ppt/slideLayouts/slideLayout2.xml" Id="R7a8a4720cf43440c" /><Relationship Type="http://schemas.openxmlformats.org/officeDocument/2006/relationships/slideLayout" Target="/ppt/slideLayouts/slideLayout3.xml" Id="R92bf0f7912c14464" /><Relationship Type="http://schemas.openxmlformats.org/officeDocument/2006/relationships/slideLayout" Target="/ppt/slideLayouts/slideLayout4.xml" Id="Rd06ff1c821044a27" /><Relationship Type="http://schemas.openxmlformats.org/officeDocument/2006/relationships/slideLayout" Target="/ppt/slideLayouts/slideLayout5.xml" Id="Rd54dd2bcc5a94b9b" /><Relationship Type="http://schemas.openxmlformats.org/officeDocument/2006/relationships/slideLayout" Target="/ppt/slideLayouts/slideLayout6.xml" Id="R11c5c7acc9424c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5e624f78284577"/>
    <p:sldLayoutId xmlns:r="http://schemas.openxmlformats.org/officeDocument/2006/relationships" id="2147483650" r:id="R7a8a4720cf43440c"/>
    <p:sldLayoutId xmlns:r="http://schemas.openxmlformats.org/officeDocument/2006/relationships" id="2147483651" r:id="R92bf0f7912c14464"/>
    <p:sldLayoutId xmlns:r="http://schemas.openxmlformats.org/officeDocument/2006/relationships" id="2147483652" r:id="Rd06ff1c821044a27"/>
    <p:sldLayoutId xmlns:r="http://schemas.openxmlformats.org/officeDocument/2006/relationships" id="2147483653" r:id="Rd54dd2bcc5a94b9b"/>
    <p:sldLayoutId xmlns:r="http://schemas.openxmlformats.org/officeDocument/2006/relationships" id="2147483654" r:id="R11c5c7acc9424c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ac91efa9984dd0" /><Relationship Type="http://schemas.openxmlformats.org/officeDocument/2006/relationships/notesSlide" Target="/ppt/notesSlides/notesSlide1.xml" Id="R8d435bf12e3b44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a3bce7015449ee" /><Relationship Type="http://schemas.openxmlformats.org/officeDocument/2006/relationships/notesSlide" Target="/ppt/notesSlides/notesSlide2.xml" Id="R293eb8c0070342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36ebc7c7744870" /><Relationship Type="http://schemas.openxmlformats.org/officeDocument/2006/relationships/image" Target="/ppt/media/image.jpeg" Id="Rb02ce8c81e9b4fa7" /><Relationship Type="http://schemas.openxmlformats.org/officeDocument/2006/relationships/notesSlide" Target="/ppt/notesSlides/notesSlide3.xml" Id="R4606a89dd50048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ab070a1d734cdb" /><Relationship Type="http://schemas.openxmlformats.org/officeDocument/2006/relationships/image" Target="/ppt/media/image2.jpeg" Id="R7153603b4c264f99" /><Relationship Type="http://schemas.openxmlformats.org/officeDocument/2006/relationships/notesSlide" Target="/ppt/notesSlides/notesSlide4.xml" Id="R6b1d268cb25946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ec2d2caf094730" /><Relationship Type="http://schemas.openxmlformats.org/officeDocument/2006/relationships/image" Target="/ppt/media/image.png" Id="R0959adbef9d94629" /><Relationship Type="http://schemas.openxmlformats.org/officeDocument/2006/relationships/notesSlide" Target="/ppt/notesSlides/notesSlide5.xml" Id="R0e394e8af8904a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bfbcec17464000" /><Relationship Type="http://schemas.openxmlformats.org/officeDocument/2006/relationships/notesSlide" Target="/ppt/notesSlides/notesSlide6.xml" Id="R2d53cefbc8be4f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CAB07-D06C-47AF-8509-59F9316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E8EFE9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E8EFE9"/>
                </a:solidFill>
              </a:defRPr>
            </a:pPr>
            <a:r>
              <a:rPr sz="1650" b="1">
                <a:solidFill>
                  <a:srgbClr val="E8EFE9"/>
                </a:solidFill>
              </a:rPr>
              <a:t>Luma &amp; Thread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2F6DF-55D6-4524-94AA-E1203B7D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Interested Buyer Automation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42336-21A0-42DC-AE88-8B6D53DA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BD6D0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BD6D0"/>
                </a:solidFill>
              </a:defRPr>
            </a:pPr>
            <a:r>
              <a:rPr sz="1800" b="0">
                <a:solidFill>
                  <a:srgbClr val="CBD6D0"/>
                </a:solidFill>
              </a:rPr>
              <a:t>A working buyer intake flow for fashion and lifestyle sales teams.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3B01E-F4B3-4E18-8833-EB6FD731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FAF18-FD92-48DC-B4DF-40736C18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2E1C7-76DE-4196-8284-9123E184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A3B8A-C3E0-40C1-9F82-BFD0FF97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DB4E0-1E00-426F-9909-CCC73842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n8n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1545A-AF8E-4CFC-9888-B73DB492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CFE7B-0BE5-42FE-BD90-A4EF9A97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Sheets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16967-67CB-46C5-97F0-0931A417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B3A32-F212-4FBD-959B-7DB31805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Gmail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E6EDD-3188-4C23-BF35-913E3306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625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DA965-B012-4EE3-8EE1-7A0EC4FB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Follow-up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E2CBD-3E2E-4836-B6B0-534A4773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9379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58D23D-01F7-4DCB-A109-586B0FBB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F2528"/>
                </a:solidFill>
              </a:defRPr>
            </a:pPr>
            <a:r>
              <a:rPr sz="2850" b="1">
                <a:solidFill>
                  <a:srgbClr val="1F2528"/>
                </a:solidFill>
              </a:rPr>
              <a:t>Sales intake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6D8CF-FDDB-4D45-84CF-DD308912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176"/>
                </a:solidFill>
              </a:defRPr>
            </a:pPr>
            <a:r>
              <a:rPr sz="1800" b="0">
                <a:solidFill>
                  <a:srgbClr val="687176"/>
                </a:solidFill>
              </a:rPr>
              <a:t>Fashion inquiries arrive through messages, comments, product links, and quick forms. The sales team needs the buyer context before the buyer cools 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BE9FF-A492-4ECA-A1C6-844D614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F2528"/>
                </a:solidFill>
              </a:defRPr>
            </a:pPr>
            <a:r>
              <a:rPr sz="1950" b="1">
                <a:solidFill>
                  <a:srgbClr val="1F2528"/>
                </a:solidFill>
              </a:rPr>
              <a:t>The workflow keeps four things visible: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EC4F2-E0E9-43DA-8E22-D04C11F3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Product interest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7391F-099A-494F-B4B6-3E5DC687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2A733-11E0-401D-B793-83421DB4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Budget and size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78462-9148-40F7-8B04-D4E46C3C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39EB4-5C8E-456F-B3D6-80303469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Intent level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7EC03-0E31-41FE-B858-179570FD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00C3B-0843-4AA7-9EE4-D5857E54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Recommended next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6CD65-2EDD-4678-957D-E1AF4CDC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187F3-6659-4A2B-A00B-8BB18E04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32E02-5AE3-4D1B-8A48-1F14D95A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Capture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D1515-E572-49A6-9D35-4D464BEB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431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6DD60-9ABD-4AC8-A475-45B480AA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Segment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08DCE-CB20-4898-8877-BFFDCBCB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31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07E16-E5C9-49BE-9A3F-DDED3B61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Save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D8A9C-666F-4A27-853F-7F1BBBEA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431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2288B-46B9-4731-949B-64552C2D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145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Alert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644D5-1798-431A-BDDB-7B54861E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9C4F36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9C4F36"/>
                </a:solidFill>
              </a:defRPr>
            </a:pPr>
            <a:r>
              <a:rPr sz="2250" b="1">
                <a:solidFill>
                  <a:srgbClr val="9C4F36"/>
                </a:solidFill>
              </a:rPr>
              <a:t>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DEB7D-5EA9-4DF0-92CC-14D61A36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2528"/>
                </a:solidFill>
              </a:defRPr>
            </a:pPr>
            <a:r>
              <a:rPr sz="1800" b="0">
                <a:solidFill>
                  <a:srgbClr val="1F2528"/>
                </a:solidFill>
              </a:rPr>
              <a:t>A shopper record, sales alert, and follow-up path appear from one submission.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474780-65A8-459C-9D3B-0A056794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4134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57CDE-3D0F-4B25-9F82-8F45663F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F2528"/>
                </a:solidFill>
              </a:defRPr>
            </a:pPr>
            <a:r>
              <a:rPr sz="2850" b="1">
                <a:solidFill>
                  <a:srgbClr val="1F2528"/>
                </a:solidFill>
              </a:rPr>
              <a:t>Buyer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2C052-1D76-4261-8E61-ABD77F98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7176"/>
                </a:solidFill>
              </a:defRPr>
            </a:pPr>
            <a:r>
              <a:rPr sz="1650" b="0">
                <a:solidFill>
                  <a:srgbClr val="687176"/>
                </a:solidFill>
              </a:rPr>
              <a:t>The form captures product, budget, size, style preference, urgency, and source.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6BC18-F500-48CE-AD77-59AEB8599D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ce8c81e9b4fa7"/>
          <a:srcRect xmlns:a="http://schemas.openxmlformats.org/drawingml/2006/main" l="0" t="16687" r="0" b="166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106680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A397B-BF2B-46EB-8149-3C9F4F9C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F6F7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6F73"/>
                </a:solidFill>
              </a:defRPr>
            </a:pPr>
            <a:r>
              <a:rPr sz="1650" b="1">
                <a:solidFill>
                  <a:srgbClr val="2F6F73"/>
                </a:solidFill>
              </a:rPr>
              <a:t>Local desk forwards to the published n8n webhook.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CD79D-C319-4714-ABDD-857E4B10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628426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551E5-0071-41A3-9F4F-B78C357A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n8n workflow backbone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48028-C382-4FDD-A0E6-A5119F1F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BD6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BD6D0"/>
                </a:solidFill>
              </a:defRPr>
            </a:pPr>
            <a:r>
              <a:rPr sz="1650" b="0">
                <a:solidFill>
                  <a:srgbClr val="CBD6D0"/>
                </a:solidFill>
              </a:rPr>
              <a:t>The workflow records the buyer first, sends the confirmation and sales alert, then routes high-intent shoppers to the personal shopping path.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5BF4C-7059-4FB1-B9CB-65BDA44BFB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3603b4c264f99"/>
          <a:srcRect xmlns:a="http://schemas.openxmlformats.org/drawingml/2006/main" l="0" t="27654" r="0" b="276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52600"/>
            <a:ext cx="111633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3196A-2C43-43EE-BC5B-7C418731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7821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2AA8D-E987-4B96-906D-5730A690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F2528"/>
                </a:solidFill>
              </a:defRPr>
            </a:pPr>
            <a:r>
              <a:rPr sz="2850" b="1">
                <a:solidFill>
                  <a:srgbClr val="1F2528"/>
                </a:solidFill>
              </a:rPr>
              <a:t>Run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57A52-4B49-4864-AFE2-17DAD912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176"/>
                </a:solidFill>
              </a:defRPr>
            </a:pPr>
            <a:r>
              <a:rPr sz="1800" b="0">
                <a:solidFill>
                  <a:srgbClr val="687176"/>
                </a:solidFill>
              </a:rPr>
              <a:t>The published webhook accepted the buyer submission and returned a started workflow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0E608-9090-49FE-8EEB-EDCFE3A7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542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1918"/>
          </a:solidFill>
          <a:ln xmlns:a="http://schemas.openxmlformats.org/drawingml/2006/main" w="0">
            <a:solidFill>
              <a:srgbClr val="1719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B6163-AD03-4DED-A3B2-52F35495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9F2E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9F2ED"/>
                </a:solidFill>
              </a:defRPr>
            </a:pPr>
            <a:r>
              <a:rPr sz="1875" b="0">
                <a:solidFill>
                  <a:srgbClr val="E9F2ED"/>
                </a:solidFill>
              </a:rPr>
              <a:t>POST /webhook/buyer-interest</a:t>
            </a:r>
          </a:p>
          <a:p xmlns:a="http://schemas.openxmlformats.org/drawingml/2006/main">
            <a:pPr>
              <a:defRPr sz="1875" b="0">
                <a:solidFill>
                  <a:srgbClr val="E9F2ED"/>
                </a:solidFill>
              </a:defRPr>
            </a:pPr>
            <a:r>
              <a:rPr sz="1875" b="0">
                <a:solidFill>
                  <a:srgbClr val="E9F2ED"/>
                </a:solidFill>
              </a:rPr>
              <a:t>{"message":"Workflow was started"}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BFBE4-1BD8-494B-B8D3-7434ADE0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11CA4-8F93-447D-AE2B-9BDC565F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Buyer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46FDC-FCC1-4273-B314-E28A80FD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529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8F154-FE06-42B4-869D-F79F3DB6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244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Tracker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9ADC6-590D-421D-A9C7-B3A88703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529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A056B-C384-496E-8A3C-BC6EE763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244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Email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C27BB-79C5-4570-A0D5-A49CA18A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529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1"/>
          </a:solidFill>
          <a:ln xmlns:a="http://schemas.openxmlformats.org/drawingml/2006/main" w="11430">
            <a:solidFill>
              <a:srgbClr val="2F6F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616F5-005D-447C-868A-FE157FE6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244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2528"/>
                </a:solidFill>
              </a:defRPr>
            </a:pPr>
            <a:r>
              <a:rPr sz="1350" b="1">
                <a:solidFill>
                  <a:srgbClr val="1F2528"/>
                </a:solidFill>
              </a:rPr>
              <a:t>Offer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74360-C9C6-4828-9311-9EFFB1530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9adbef9d94629"/>
          <a:srcRect xmlns:a="http://schemas.openxmlformats.org/drawingml/2006/main" l="16406" t="0" r="164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1219200"/>
            <a:ext cx="409575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23C4F-11E4-48DD-AA70-FF2A43AC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01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F2528"/>
                </a:solidFill>
              </a:defRPr>
            </a:pPr>
            <a:r>
              <a:rPr sz="1650" b="0">
                <a:solidFill>
                  <a:srgbClr val="1F2528"/>
                </a:solidFill>
              </a:rPr>
              <a:t>Video asset shows the node path with executed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0C416-39EA-445B-A199-41C13C52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89062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C8802-247F-4DD0-96EC-2E4F6D2A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F2528"/>
                </a:solidFill>
              </a:defRPr>
            </a:pPr>
            <a:r>
              <a:rPr sz="3000" b="1">
                <a:solidFill>
                  <a:srgbClr val="1F2528"/>
                </a:solidFill>
              </a:rPr>
              <a:t>Presentation links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34AF7-EDB4-48B2-A962-1960BDBD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176"/>
                </a:solidFill>
              </a:defRPr>
            </a:pPr>
            <a:r>
              <a:rPr sz="1800" b="0">
                <a:solidFill>
                  <a:srgbClr val="687176"/>
                </a:solidFill>
              </a:rPr>
              <a:t>Open the live page, play the workflow video, or download this deck from the repository.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6221A-B5BB-4C4E-9641-18DDFF7C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9C4F36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9C4F36"/>
                </a:solidFill>
              </a:defRPr>
            </a:pPr>
            <a:r>
              <a:rPr sz="2025" b="1">
                <a:solidFill>
                  <a:srgbClr val="9C4F36"/>
                </a:solidFill>
              </a:rPr>
              <a:t>Live page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7D60D-984B-49D0-8F94-30B19BE5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F2528"/>
                </a:solidFill>
              </a:defRPr>
            </a:pPr>
            <a:r>
              <a:rPr sz="1575" b="0">
                <a:solidFill>
                  <a:srgbClr val="1F2528"/>
                </a:solidFill>
              </a:rPr>
              <a:t>https://calina-miguel.github.io/fashion-buyer-automation/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D0B3D-5615-430B-8C72-CFC3CE5A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B"/>
          </a:solidFill>
          <a:ln xmlns:a="http://schemas.openxmlformats.org/drawingml/2006/main" w="0">
            <a:solidFill>
              <a:srgbClr val="D8DE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555C7-40CF-4B42-B266-17B83AFC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9C4F36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9C4F36"/>
                </a:solidFill>
              </a:defRPr>
            </a:pPr>
            <a:r>
              <a:rPr sz="2025" b="1">
                <a:solidFill>
                  <a:srgbClr val="9C4F36"/>
                </a:solidFill>
              </a:rPr>
              <a:t>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A278D-B411-407D-937A-0121A9E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F2528"/>
                </a:solidFill>
              </a:defRPr>
            </a:pPr>
            <a:r>
              <a:rPr sz="1575" b="0">
                <a:solidFill>
                  <a:srgbClr val="1F2528"/>
                </a:solidFill>
              </a:rPr>
              <a:t>https://github.com/calina-miguel/fashion-buyer-automation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F0D04-D24A-46D1-ACC5-D0E2BEBA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B"/>
          </a:solidFill>
          <a:ln xmlns:a="http://schemas.openxmlformats.org/drawingml/2006/main" w="0">
            <a:solidFill>
              <a:srgbClr val="D8DE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6F60C-5337-4F9C-99BA-DB8CDD5D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9C4F36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9C4F36"/>
                </a:solidFill>
              </a:defRPr>
            </a:pPr>
            <a:r>
              <a:rPr sz="2025" b="1">
                <a:solidFill>
                  <a:srgbClr val="9C4F36"/>
                </a:solidFill>
              </a:rPr>
              <a:t>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8065A-1766-479B-81FB-C9CF1FB6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F252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F2528"/>
                </a:solidFill>
              </a:defRPr>
            </a:pPr>
            <a:r>
              <a:rPr sz="1575" b="0">
                <a:solidFill>
                  <a:srgbClr val="1F2528"/>
                </a:solidFill>
              </a:rPr>
              <a:t>https://devtones.app.n8n.cloud/workflow/anSd0GnuD9zYGiLD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638E8-9F4D-407B-8713-CDC013A3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B"/>
          </a:solidFill>
          <a:ln xmlns:a="http://schemas.openxmlformats.org/drawingml/2006/main" w="0">
            <a:solidFill>
              <a:srgbClr val="D8DE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2C52D-05C5-4835-8A93-D171B40F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72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8717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87176"/>
                </a:solidFill>
              </a:defRPr>
            </a:pPr>
            <a:r>
              <a:rPr sz="1125" b="1">
                <a:solidFill>
                  <a:srgbClr val="68717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62546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2026-10-09T15:14:37.6380000Z</dcterms:created>
  <dcterms:modified xsi:type="dcterms:W3CDTF">2026-10-09T15:14:37.6380000Z</dcterms:modified>
</coreProperties>
</file>